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0F172A"/>
                </a:solidFill>
                <a:latin typeface="Calibri"/>
              </a:rPr>
              <a:t>Targeted ARR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($M, target)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</c:v>
                </c:pt>
                <c:pt idx="1">
                  <c:v>1</c:v>
                </c:pt>
                <c:pt idx="2">
                  <c:v>3</c:v>
                </c:pt>
                <c:pt idx="3">
                  <c:v>10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A8-4317-ABA6-B49457462E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8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54864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SAALR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Research-Grade Options Analytics for Retail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ML  ·  Multi-Broker  ·  Multi-Geography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141A47"/>
          </a:solidFill>
          <a:ln w="9525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73152" cy="77724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Pre-revenue. Solo founder. Three codebases shipped. 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Signal-validation experiment scheduled Q3 2026.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$2M target   |   24-month plan to $1M ARR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 ·   Drafted Q2 2026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options: toys, scams, and a missing middle.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US and India, the same gap: tools are either too simple to give edge, or too hyped to be honest.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69080" cy="13258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73152" cy="1325880"/>
          </a:xfrm>
          <a:prstGeom prst="rect">
            <a:avLst/>
          </a:prstGeom>
          <a:solidFill>
            <a:srgbClr val="9B3A2F"/>
          </a:solidFill>
          <a:ln w="12700">
            <a:solidFill>
              <a:srgbClr val="9B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Loss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91% of retail F&amp;O traders lose (SEBI 2024). US: ~70% of retail options traders lose (SEC). Same broken pattern, two geographies.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572768"/>
            <a:ext cx="4069080" cy="13258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72768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Toys for Retail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13969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Robinhood, Streak: no vol surface, no Greeks aggregation, no honest performance reporting. Retail gets the broker, not the brain.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4069080" cy="13258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73152" cy="1325880"/>
          </a:xfrm>
          <a:prstGeom prst="rect">
            <a:avLst/>
          </a:prstGeom>
          <a:solidFill>
            <a:srgbClr val="9B3A2F"/>
          </a:solidFill>
          <a:ln w="12700">
            <a:solidFill>
              <a:srgbClr val="9B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Scams Above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60273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signal" Discords, options-tip Telegram groups, alpha-promising YouTubers. The trust deficit is real and growing.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035808"/>
            <a:ext cx="4069080" cy="13258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035808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Middle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60273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Bloomberg-grade analytics sit behind $30K/year terminals. No honest, research-grade options platform exists at retail price points across both geographies.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5079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SEBI Circular Feb 2025 · SEBI F&amp;O Study 2024 · NSE Market Pulse Dec 2025 · OCC Retail Options Data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tooling at retail price points.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ML, broker APIs, and LLM-augmented sentiment have collapsed the cost curve.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value now lives in integration depth, honest model reporting, brand of rigor, and multi-geography distribution — not magic AI.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69080" cy="411480"/>
          </a:xfrm>
          <a:prstGeom prst="rect">
            <a:avLst/>
          </a:prstGeom>
          <a:solidFill>
            <a:srgbClr val="EDF2FC"/>
          </a:solidFill>
          <a:ln w="12700">
            <a:solidFill>
              <a:srgbClr val="EDF2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99432" y="1920240"/>
            <a:ext cx="40690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99432" y="19202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069080" cy="5029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9432" y="2423160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Robinhood-simple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69080" cy="5029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99432" y="2971800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says buy"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971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4069080" cy="5029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9432" y="3520440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 math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4069080" cy="5029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99432" y="4069080"/>
            <a:ext cx="4069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US-only or India-only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4069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one codebase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Honest analytics. US first.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is the unified options analytics platform for serious retail traders.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 and Greeks for free, sentiment-aware probability for premium, broker-integrated execution for live trading.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8928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8928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Pro-Grade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68296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surface, Greeks, multi-leg P&amp;L, sentiment-adjusted POP. Bloomberg-grade depth at $15-49/month.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16916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8928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12664" y="18928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ML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2368296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for vol. Monte Carlo for POP. FinBERT for sentiment. LSTM reported against ARIMA baseline. No "AI says buy" buttons.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4747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Funnel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950208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OptionsAcademy: 50+ free modules. Engaged retail traders at near-zero CAC. Same playbook as Zerodha Varsity and TastyTrade.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99432" y="3273552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3474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12664" y="34747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Multi-Broker Reach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28032" y="3950208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Alpaca, IBKR. India: Zerodha, Angel One. One platform, two markets. We never custody user capital.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sources of defensibility — none of them magic AI.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43000"/>
            <a:ext cx="47548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COMPETITORS LACK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63624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0" y="1563624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636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vol surface + Greeks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156362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by strike × expiry composed with portfolio-level Greeks aggregation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0" y="2039112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0391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Sentiment-adjusted Monte Carlo POP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51960" y="20391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vol × FinBERT score composed into a single drift input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0" y="2514600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5146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ARIMA-baselined ML reporting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514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models retired; baseline-vs-model performance shown in 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90088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0" y="2990088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9900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module education library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299008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OptionsAcademy: Greeks, IV rank, strategy mechanics — no BS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65576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0" y="3465576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4655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Multi-broker reach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46557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+ IBKR (US), Zerodha + Angel One (India), one codebase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41064"/>
            <a:ext cx="3657600" cy="420624"/>
          </a:xfrm>
          <a:prstGeom prst="rect">
            <a:avLst/>
          </a:prstGeom>
          <a:solidFill>
            <a:srgbClr val="EDF2FC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0" y="3941064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9410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of intellectual honesty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394106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commitment: no "AI says buy." Earned trust in a scammy market.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57200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compounds: 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depth + brand equity + content library + multi-geography are slow to build and slow to copy. Magic AI is not.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codebases shipped solo, pre-revenue.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SHIPPED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114800" cy="68580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OptionsAcademy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007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public, free, no monetization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114800" cy="68580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OptionsWorld (US MVP)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4780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optionsworld.ai — GARCH, FinBERT, Monte Carlo, multi-leg builder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114800" cy="68580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Academy on Azure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255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optionsacademy.ai — clean Zerodha-inspired landing, full app behind 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078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COMPONENTS BUILT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316736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vol forecasting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news sentiment with recency half-life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POP with sentiment-adjusted drift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vs. ARIMA harness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builder + payoff diagrams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 + Greeks aggregation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0723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INTEGRATIONS (CODE COMPLETE)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3101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Alpaca, IBKR, Robinhood scaffolding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(Kite Connect), Angel One, ICICI Direct, HDFC Securities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141A47"/>
          </a:solidFill>
          <a:ln w="9525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073436"/>
            <a:ext cx="73152" cy="50292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78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paying customers. 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sites live but pre-marketing.   RA licensing: personal Month 3 / corporate Month 12.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D39235-DB93-C2A1-7FE2-F6311E9BDCAC}"/>
              </a:ext>
            </a:extLst>
          </p:cNvPr>
          <p:cNvSpPr txBox="1"/>
          <p:nvPr/>
        </p:nvSpPr>
        <p:spPr>
          <a:xfrm>
            <a:off x="365761" y="3628828"/>
            <a:ext cx="411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unifies these three into one product post-seed.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the right to claim engine validation.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12 months are not "scale." They are proving the engine works — and retiring it publicly if it doesn't.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713232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280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8 weeks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581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8379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OOS vs. naïve baseline on SPY/QQQ. FinBERT lift on 30-min forward IV. Holdout test. Public results. If signals fail, models retired; product repositions around vol surface + Greeks + education.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8412480" cy="713232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1280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404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12 weeks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23865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paid US cohort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26426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OptionsWorld free → $15 paid funnel. Target: first 50 paying users. Measure real CAC, retention, ARPU. No claims until measured.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8412480" cy="713232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118104"/>
            <a:ext cx="1280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191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launch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44728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entity stood up, RA filing in progress, Zerodha integration first user. Sensibull-adjacent positioning. Target: first 50 Indian paying users.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22776"/>
            <a:ext cx="8412480" cy="713232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922776"/>
            <a:ext cx="12801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014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288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3995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 readiness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42519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ARR run-rate. 70%+ retention measured on real cohorts.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targets, not actuals.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65760"/>
          </a:xfrm>
          <a:prstGeom prst="rect">
            <a:avLst/>
          </a:prstGeom>
          <a:solidFill>
            <a:srgbClr val="FDF6E7"/>
          </a:solidFill>
          <a:ln w="635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73152" cy="36576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hit any of these yet. We are raising to hit them.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7432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572768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0" y="1572768"/>
            <a:ext cx="3474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(MONTH 18 POST-SEED)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8412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1892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06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85416"/>
            <a:ext cx="8412480" cy="292608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185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185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($15 + $49 mix)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78024"/>
            <a:ext cx="8412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2478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06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770632"/>
            <a:ext cx="8412480" cy="292608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2770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(6-mo)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4612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355848"/>
            <a:ext cx="8412480" cy="292608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Geographies live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46120" y="3355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(partial)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406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India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648456"/>
            <a:ext cx="8412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user-validated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46120" y="3648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406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(Alpaca, IBKR, Zerodha, Angel One)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3941064"/>
            <a:ext cx="8412480" cy="292608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941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claims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46120" y="3941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validated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06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+ FinBERT validated OOS, public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Unit-economics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($33 ARPU, $22 CAC, $190 LTV, ~6× LTV/CAC) follow US B2C fintech benchmarks. They are not yet measured — Phase 1 produces the first real cohort.</a:t>
            </a:r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big markets. Mature ML stack. Trust collapsing on incumbents.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69080" cy="14173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options traders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volume since 2020 (OCC)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81144" y="1188720"/>
            <a:ext cx="4069080" cy="14173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9744" y="13258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809744" y="1965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retail F&amp;O traders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2221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algo growth since 2020 (NSE FY24)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4069080" cy="14173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94360" y="35295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of the ML stack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85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/ FinGPT / GARCH open-source; LLM APIs cheap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81144" y="2752344"/>
            <a:ext cx="4069080" cy="141732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9744" y="288950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↘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809744" y="35295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trust in AI-trading is falling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3785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strategies failing publicly — "no AI says buy" cuts through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NSE Market Pulse Dec 2025 · OCC Retail Options Data · SEBI 2024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· SAM · SOM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$21.4B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3657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trading software; options analytics is the fastest-growing slice.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188720"/>
            <a:ext cx="2697480" cy="2788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6432" y="1417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$3.2B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456432" y="2880360"/>
            <a:ext cx="365760" cy="36576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India retail options tools (~16M traders × $200/yr).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18872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417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$480M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318504" y="2880360"/>
            <a:ext cx="36576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8504" y="3017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paying users at $33/mo blended ARPU by Year 5 (15% SAM penetration).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2026 · NSE FY24 · OCC · FIA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complete, not yet validated. Where we sit.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4688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1325880" cy="310896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1097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097280"/>
            <a:ext cx="14173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097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(IN)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14173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1097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OptionsAI (US)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17830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097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TastyTrade (US)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408176"/>
            <a:ext cx="24688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408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ML reporting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1408176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14081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1408176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1408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408176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14081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95160" y="1408176"/>
            <a:ext cx="1783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14081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24688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1719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 + Greeks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1719072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0360" y="17190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1719072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0" y="17190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719072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23560" y="17190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1719072"/>
            <a:ext cx="17830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0880" y="1719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029968"/>
            <a:ext cx="24688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Sentiment-adjusted POP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2029968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880360" y="20299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t 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2029968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06240" y="2029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2029968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23560" y="2029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2029968"/>
            <a:ext cx="1783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40880" y="20299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340864"/>
            <a:ext cx="24688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2340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Multi-broker reach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2340864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80360" y="23408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60520" y="2340864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06240" y="23408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Broker-tied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2340864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23560" y="23408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95160" y="2340864"/>
            <a:ext cx="17830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40880" y="23408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Broker-tied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2651760"/>
            <a:ext cx="24688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2651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funnel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34640" y="2651760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880360" y="26517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60520" y="2651760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206240" y="26517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77840" y="2651760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623560" y="26517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95160" y="2651760"/>
            <a:ext cx="1783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40880" y="26517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2962656"/>
            <a:ext cx="24688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11480" y="2962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India coverage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34640" y="2962656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880360" y="296265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160520" y="2962656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206240" y="2962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77840" y="2962656"/>
            <a:ext cx="141732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623560" y="2962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995160" y="2962656"/>
            <a:ext cx="1783080" cy="310896"/>
          </a:xfrm>
          <a:prstGeom prst="rect">
            <a:avLst/>
          </a:prstGeom>
          <a:solidFill>
            <a:srgbClr val="EDF2FC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40880" y="2962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3273552"/>
            <a:ext cx="24688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32735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+ paid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834640" y="3273552"/>
            <a:ext cx="1325880" cy="310896"/>
          </a:xfrm>
          <a:prstGeom prst="rect">
            <a:avLst/>
          </a:prstGeom>
          <a:solidFill>
            <a:srgbClr val="FDF6E7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880360" y="32735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✓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160520" y="3273552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206240" y="32735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577840" y="3273552"/>
            <a:ext cx="1417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623560" y="32735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995160" y="3273552"/>
            <a:ext cx="1783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040880" y="32735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65760" y="4332849"/>
            <a:ext cx="8412480" cy="376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</a:t>
            </a: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= product code shipped, user-validation pending. Code complete = engineering done, no production user has exercised it yet. Planned = roadmap. No "shipped &amp; validated with paying users" claim anywhere yet.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today. Hiring the gaps with the seed.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91440" cy="352044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914400" cy="914400"/>
          </a:xfrm>
          <a:prstGeom prst="ellipse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3736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Sreekanth Payyavula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 ·  IIM Calcutta  ·  EPAT (QuantInsti)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engineering leadership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· Verizon · AT&amp;T · Infosys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personal trading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+ US equity and options markets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solo: 3 production codebases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POST-SEED HIRING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904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435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1673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 with quant/ML background. Owns architecture, ML pipelines, broker rails. Top of hiring list.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09397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039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22768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growth lead with US + India fintech experience. Owns free → paid conversion.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642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quant/ML engineer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US-based. Vol modelling, sentiment pipelines, OOS testing harness.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009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lead — OptionsAcademy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3483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funnel ownership; 50+ modules to 100+, weekly cadence.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90448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849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ops lead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0" y="4087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setup, RA filing, Zerodha/Angel One integrations live.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where it adds signal. Stats where it doesn't.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"AI says buy" buttons — now or ever.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15544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(validation pending)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for volatility (mean-reverting, forecastable)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with GARCH vol for POP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with recency half-life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reported alongside ARIMA 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81144" y="1417320"/>
            <a:ext cx="4069080" cy="15544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1144" y="1417320"/>
            <a:ext cx="73152" cy="155448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9744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in progress · Q3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87452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lift testing on SPY 30-min forward IV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periods, t-stat reporting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Retire-on-fail discipline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reporting — including failures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4069080" cy="15544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73152" cy="1554480"/>
          </a:xfrm>
          <a:prstGeom prst="rect">
            <a:avLst/>
          </a:prstGeom>
          <a:solidFill>
            <a:srgbClr val="9B3A2F"/>
          </a:solidFill>
          <a:ln w="12700">
            <a:solidFill>
              <a:srgbClr val="9B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255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guardrails (now and forever)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75304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sentiment defaults to neutral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"AI predicts UP" buttons; no signal subs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models retired publicly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model vs. baseline vs. random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81144" y="3118104"/>
            <a:ext cx="4069080" cy="15544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81144" y="3118104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9744" y="32552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3575304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Multi-cloud: Azure + GCP · Docker · CI/CD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abstraction layer reused across rails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arch · HF · PyTorch · numpy/numba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prep post-seed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Projections, not actuals. Year 1 = seed close.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46955901"/>
              </p:ext>
            </p:extLst>
          </p:nvPr>
        </p:nvGraphicFramePr>
        <p:xfrm>
          <a:off x="365760" y="1097280"/>
          <a:ext cx="4572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166360" y="10972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66360" y="1389888"/>
            <a:ext cx="3611880" cy="6400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0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7007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20840" y="14813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OptionsAcademy + basic vol surface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66360" y="2103120"/>
            <a:ext cx="3611880" cy="640080"/>
          </a:xfrm>
          <a:prstGeom prst="rect">
            <a:avLst/>
          </a:prstGeom>
          <a:solidFill>
            <a:srgbClr val="F7F9FD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24140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2084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analytics, single broker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166360" y="2816352"/>
            <a:ext cx="361188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03520" y="2862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03520" y="3127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Multi-broker · sentiment-adjusted POP · portfolio analytics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3611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(target, unmeasured)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904488"/>
            <a:ext cx="16276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8912" y="3941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$33/mo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38912" y="42153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039112" y="3904488"/>
            <a:ext cx="16276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112264" y="3941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112264" y="42153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712464" y="3904488"/>
            <a:ext cx="16276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785616" y="3941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785616" y="42153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385816" y="3904488"/>
            <a:ext cx="16276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58968" y="3941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~6×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58968" y="42153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059168" y="3904488"/>
            <a:ext cx="16276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132320" y="3941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72→82%+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32320" y="421538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assumptions follow US + India retail-fintech benchmarks. Not guaranteed. Sources: OCC · NSE FY24 · B2C SaaS public comparables.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 seed · 18 months runway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91440" cy="356616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Institutional + strategic angels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hiring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3566160" cy="0"/>
          </a:xfrm>
          <a:prstGeom prst="line">
            <a:avLst/>
          </a:prstGeom>
          <a:noFill/>
          <a:ln w="6350">
            <a:solidFill>
              <a:srgbClr val="2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566160" cy="0"/>
          </a:xfrm>
          <a:prstGeom prst="line">
            <a:avLst/>
          </a:prstGeom>
          <a:noFill/>
          <a:ln w="6350">
            <a:solidFill>
              <a:srgbClr val="2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10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310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84448"/>
            <a:ext cx="3566160" cy="0"/>
          </a:xfrm>
          <a:prstGeom prst="line">
            <a:avLst/>
          </a:prstGeom>
          <a:noFill/>
          <a:ln w="6350">
            <a:solidFill>
              <a:srgbClr val="2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027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6027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877056"/>
            <a:ext cx="3566160" cy="0"/>
          </a:xfrm>
          <a:prstGeom prst="line">
            <a:avLst/>
          </a:prstGeom>
          <a:noFill/>
          <a:ln w="6350">
            <a:solidFill>
              <a:srgbClr val="2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895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8953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69664"/>
            <a:ext cx="3566160" cy="0"/>
          </a:xfrm>
          <a:prstGeom prst="line">
            <a:avLst/>
          </a:prstGeom>
          <a:noFill/>
          <a:ln w="6350">
            <a:solidFill>
              <a:srgbClr val="2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WE COMMIT 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389888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3898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389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validation results published — kill or confirm GARCH/FinBERT alpha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755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paying US users · real CAC/retention measured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121408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21214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121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ARR - India launch initiated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487168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487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 ARR · 5K free / 200 paying users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852928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28529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916233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ARR · ~30K free / ~2,500 paying users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023360"/>
            <a:ext cx="4114800" cy="594360"/>
          </a:xfrm>
          <a:prstGeom prst="rect">
            <a:avLst/>
          </a:prstGeom>
          <a:solidFill>
            <a:srgbClr val="FDF0EE"/>
          </a:solidFill>
          <a:ln w="6350">
            <a:solidFill>
              <a:srgbClr val="9B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023360"/>
            <a:ext cx="73152" cy="594360"/>
          </a:xfrm>
          <a:prstGeom prst="rect">
            <a:avLst/>
          </a:prstGeom>
          <a:solidFill>
            <a:srgbClr val="9B3A2F"/>
          </a:solidFill>
          <a:ln w="12700">
            <a:solidFill>
              <a:srgbClr val="9B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WON'T DO: 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user capital  ·  sell "AI says buy" signals  ·  claim engine validation before it exists  ·  onboard users to live trading before paper-trade validation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SAALR · Seed Deck v2 · Confidential · Drafted 2026-05-26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21807D1F-6BC4-F1EC-752A-BAF1B644EEDE}"/>
              </a:ext>
            </a:extLst>
          </p:cNvPr>
          <p:cNvSpPr/>
          <p:nvPr/>
        </p:nvSpPr>
        <p:spPr>
          <a:xfrm>
            <a:off x="4666957" y="3255264"/>
            <a:ext cx="502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11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6AD52924-A71E-2DC9-F5EC-4DFD0276E3CB}"/>
              </a:ext>
            </a:extLst>
          </p:cNvPr>
          <p:cNvSpPr/>
          <p:nvPr/>
        </p:nvSpPr>
        <p:spPr>
          <a:xfrm>
            <a:off x="5303520" y="33234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ARR (Series A trigger)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54864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SAALR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options analytics for retail traders.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first.  India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1325880"/>
          </a:xfrm>
          <a:prstGeom prst="rect">
            <a:avLst/>
          </a:prstGeom>
          <a:solidFill>
            <a:srgbClr val="141A47"/>
          </a:solidFill>
          <a:ln w="9525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1325880"/>
          </a:xfrm>
          <a:prstGeom prst="rect">
            <a:avLst/>
          </a:prstGeom>
          <a:solidFill>
            <a:srgbClr val="C6912E"/>
          </a:solidFill>
          <a:ln w="12700">
            <a:solidFill>
              <a:srgbClr val="C6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Sreekanth Payyavula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 ·   IIT  ·  IIM Calcutta  ·  EPAT Certified  ·  30 yrs AI &amp; Eng Leadership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www.saalr.io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sreekanth@saalr.io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/in/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sreekanthconnect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Pre-seed   ·   Drafted 2026-05-26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2179</Words>
  <Application>Microsoft Office PowerPoint</Application>
  <PresentationFormat>On-screen Show (16:9)</PresentationFormat>
  <Paragraphs>363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SAALR — Seed Deck v2 (Honest Edition)</dc:title>
  <dc:subject>PptxGenJS Presentation</dc:subject>
  <dc:creator>Sreekanth Payyavula</dc:creator>
  <cp:lastModifiedBy>Sreekanth Payyavula</cp:lastModifiedBy>
  <cp:revision>4</cp:revision>
  <dcterms:created xsi:type="dcterms:W3CDTF">2026-05-26T18:42:22Z</dcterms:created>
  <dcterms:modified xsi:type="dcterms:W3CDTF">2026-05-27T11:33:36Z</dcterms:modified>
</cp:coreProperties>
</file>